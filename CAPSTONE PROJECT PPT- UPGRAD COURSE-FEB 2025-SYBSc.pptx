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2" r:id="rId7"/>
    <p:sldId id="261" r:id="rId8"/>
    <p:sldId id="266" r:id="rId9"/>
    <p:sldId id="263" r:id="rId10"/>
    <p:sldId id="264" r:id="rId11"/>
    <p:sldId id="265"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p:restoredTop sz="94703"/>
  </p:normalViewPr>
  <p:slideViewPr>
    <p:cSldViewPr snapToGrid="0">
      <p:cViewPr varScale="1">
        <p:scale>
          <a:sx n="125" d="100"/>
          <a:sy n="125" d="100"/>
        </p:scale>
        <p:origin x="168"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C494-0DA9-6A09-3F7E-C7A7669696C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F06E7F7-9391-A01B-E425-60CC395CDD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A4CF0A9-6EE1-8996-8D10-BFC72B2A853A}"/>
              </a:ext>
            </a:extLst>
          </p:cNvPr>
          <p:cNvSpPr>
            <a:spLocks noGrp="1"/>
          </p:cNvSpPr>
          <p:nvPr>
            <p:ph type="dt" sz="half" idx="10"/>
          </p:nvPr>
        </p:nvSpPr>
        <p:spPr/>
        <p:txBody>
          <a:bodyPr/>
          <a:lstStyle/>
          <a:p>
            <a:fld id="{4329A318-45C0-3F4C-B888-47DBF59FBFCE}" type="datetimeFigureOut">
              <a:rPr lang="en-US" smtClean="0"/>
              <a:t>2/28/25</a:t>
            </a:fld>
            <a:endParaRPr lang="en-US"/>
          </a:p>
        </p:txBody>
      </p:sp>
      <p:sp>
        <p:nvSpPr>
          <p:cNvPr id="5" name="Footer Placeholder 4">
            <a:extLst>
              <a:ext uri="{FF2B5EF4-FFF2-40B4-BE49-F238E27FC236}">
                <a16:creationId xmlns:a16="http://schemas.microsoft.com/office/drawing/2014/main" id="{317AD58A-1B86-4638-C93C-C175555C50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D042D8-3C01-69A7-F769-E0B4BA0BDDFF}"/>
              </a:ext>
            </a:extLst>
          </p:cNvPr>
          <p:cNvSpPr>
            <a:spLocks noGrp="1"/>
          </p:cNvSpPr>
          <p:nvPr>
            <p:ph type="sldNum" sz="quarter" idx="12"/>
          </p:nvPr>
        </p:nvSpPr>
        <p:spPr/>
        <p:txBody>
          <a:bodyPr/>
          <a:lstStyle/>
          <a:p>
            <a:fld id="{00F84F07-6077-9844-839E-918FEB146499}" type="slidenum">
              <a:rPr lang="en-US" smtClean="0"/>
              <a:t>‹#›</a:t>
            </a:fld>
            <a:endParaRPr lang="en-US"/>
          </a:p>
        </p:txBody>
      </p:sp>
    </p:spTree>
    <p:extLst>
      <p:ext uri="{BB962C8B-B14F-4D97-AF65-F5344CB8AC3E}">
        <p14:creationId xmlns:p14="http://schemas.microsoft.com/office/powerpoint/2010/main" val="2182704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833DA-081A-7A9B-BE0C-246C9B3849E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7538073-FF27-90D7-1AE1-9FA5BA26437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5EB0FC2-920E-D0B2-6D01-FA8209FE4B55}"/>
              </a:ext>
            </a:extLst>
          </p:cNvPr>
          <p:cNvSpPr>
            <a:spLocks noGrp="1"/>
          </p:cNvSpPr>
          <p:nvPr>
            <p:ph type="dt" sz="half" idx="10"/>
          </p:nvPr>
        </p:nvSpPr>
        <p:spPr/>
        <p:txBody>
          <a:bodyPr/>
          <a:lstStyle/>
          <a:p>
            <a:fld id="{4329A318-45C0-3F4C-B888-47DBF59FBFCE}" type="datetimeFigureOut">
              <a:rPr lang="en-US" smtClean="0"/>
              <a:t>2/28/25</a:t>
            </a:fld>
            <a:endParaRPr lang="en-US"/>
          </a:p>
        </p:txBody>
      </p:sp>
      <p:sp>
        <p:nvSpPr>
          <p:cNvPr id="5" name="Footer Placeholder 4">
            <a:extLst>
              <a:ext uri="{FF2B5EF4-FFF2-40B4-BE49-F238E27FC236}">
                <a16:creationId xmlns:a16="http://schemas.microsoft.com/office/drawing/2014/main" id="{177DD0C1-62F4-0576-1808-2CC8E448B3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8A8626-DB09-69AC-322A-CED067184E51}"/>
              </a:ext>
            </a:extLst>
          </p:cNvPr>
          <p:cNvSpPr>
            <a:spLocks noGrp="1"/>
          </p:cNvSpPr>
          <p:nvPr>
            <p:ph type="sldNum" sz="quarter" idx="12"/>
          </p:nvPr>
        </p:nvSpPr>
        <p:spPr/>
        <p:txBody>
          <a:bodyPr/>
          <a:lstStyle/>
          <a:p>
            <a:fld id="{00F84F07-6077-9844-839E-918FEB146499}" type="slidenum">
              <a:rPr lang="en-US" smtClean="0"/>
              <a:t>‹#›</a:t>
            </a:fld>
            <a:endParaRPr lang="en-US"/>
          </a:p>
        </p:txBody>
      </p:sp>
    </p:spTree>
    <p:extLst>
      <p:ext uri="{BB962C8B-B14F-4D97-AF65-F5344CB8AC3E}">
        <p14:creationId xmlns:p14="http://schemas.microsoft.com/office/powerpoint/2010/main" val="2875887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6C187-449E-5581-2FDB-57794208AAF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A11D443-8F92-32BE-1978-B9F36B717A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F52A224-029C-C8F7-79C7-6F2A0BEB842F}"/>
              </a:ext>
            </a:extLst>
          </p:cNvPr>
          <p:cNvSpPr>
            <a:spLocks noGrp="1"/>
          </p:cNvSpPr>
          <p:nvPr>
            <p:ph type="dt" sz="half" idx="10"/>
          </p:nvPr>
        </p:nvSpPr>
        <p:spPr/>
        <p:txBody>
          <a:bodyPr/>
          <a:lstStyle/>
          <a:p>
            <a:fld id="{4329A318-45C0-3F4C-B888-47DBF59FBFCE}" type="datetimeFigureOut">
              <a:rPr lang="en-US" smtClean="0"/>
              <a:t>2/28/25</a:t>
            </a:fld>
            <a:endParaRPr lang="en-US"/>
          </a:p>
        </p:txBody>
      </p:sp>
      <p:sp>
        <p:nvSpPr>
          <p:cNvPr id="5" name="Footer Placeholder 4">
            <a:extLst>
              <a:ext uri="{FF2B5EF4-FFF2-40B4-BE49-F238E27FC236}">
                <a16:creationId xmlns:a16="http://schemas.microsoft.com/office/drawing/2014/main" id="{120BA5C7-FD94-CBE0-91EA-C55AB9BB3A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01E6E5-1722-B526-F201-EB1145559FCE}"/>
              </a:ext>
            </a:extLst>
          </p:cNvPr>
          <p:cNvSpPr>
            <a:spLocks noGrp="1"/>
          </p:cNvSpPr>
          <p:nvPr>
            <p:ph type="sldNum" sz="quarter" idx="12"/>
          </p:nvPr>
        </p:nvSpPr>
        <p:spPr/>
        <p:txBody>
          <a:bodyPr/>
          <a:lstStyle/>
          <a:p>
            <a:fld id="{00F84F07-6077-9844-839E-918FEB146499}" type="slidenum">
              <a:rPr lang="en-US" smtClean="0"/>
              <a:t>‹#›</a:t>
            </a:fld>
            <a:endParaRPr lang="en-US"/>
          </a:p>
        </p:txBody>
      </p:sp>
    </p:spTree>
    <p:extLst>
      <p:ext uri="{BB962C8B-B14F-4D97-AF65-F5344CB8AC3E}">
        <p14:creationId xmlns:p14="http://schemas.microsoft.com/office/powerpoint/2010/main" val="2822189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DF789-FE80-D92F-B826-133B183EBDA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2CC83DA-7197-E44B-CF68-C87908B97B2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79666B7-6F67-EDA6-4EFA-0000B8DAC69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CDB4CC2-2153-8DB6-4853-8198A8D09316}"/>
              </a:ext>
            </a:extLst>
          </p:cNvPr>
          <p:cNvSpPr>
            <a:spLocks noGrp="1"/>
          </p:cNvSpPr>
          <p:nvPr>
            <p:ph type="dt" sz="half" idx="10"/>
          </p:nvPr>
        </p:nvSpPr>
        <p:spPr/>
        <p:txBody>
          <a:bodyPr/>
          <a:lstStyle/>
          <a:p>
            <a:fld id="{4329A318-45C0-3F4C-B888-47DBF59FBFCE}" type="datetimeFigureOut">
              <a:rPr lang="en-US" smtClean="0"/>
              <a:t>2/28/25</a:t>
            </a:fld>
            <a:endParaRPr lang="en-US"/>
          </a:p>
        </p:txBody>
      </p:sp>
      <p:sp>
        <p:nvSpPr>
          <p:cNvPr id="6" name="Footer Placeholder 5">
            <a:extLst>
              <a:ext uri="{FF2B5EF4-FFF2-40B4-BE49-F238E27FC236}">
                <a16:creationId xmlns:a16="http://schemas.microsoft.com/office/drawing/2014/main" id="{8B95E176-CFB9-9F3A-068E-FC169F2B92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EB15A4-6B58-786B-1BD1-61DE1D782EA3}"/>
              </a:ext>
            </a:extLst>
          </p:cNvPr>
          <p:cNvSpPr>
            <a:spLocks noGrp="1"/>
          </p:cNvSpPr>
          <p:nvPr>
            <p:ph type="sldNum" sz="quarter" idx="12"/>
          </p:nvPr>
        </p:nvSpPr>
        <p:spPr/>
        <p:txBody>
          <a:bodyPr/>
          <a:lstStyle/>
          <a:p>
            <a:fld id="{00F84F07-6077-9844-839E-918FEB146499}" type="slidenum">
              <a:rPr lang="en-US" smtClean="0"/>
              <a:t>‹#›</a:t>
            </a:fld>
            <a:endParaRPr lang="en-US"/>
          </a:p>
        </p:txBody>
      </p:sp>
    </p:spTree>
    <p:extLst>
      <p:ext uri="{BB962C8B-B14F-4D97-AF65-F5344CB8AC3E}">
        <p14:creationId xmlns:p14="http://schemas.microsoft.com/office/powerpoint/2010/main" val="373120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71B82-A030-EEE4-38CD-DE4ADF43DD5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DEC0BC8-2F98-50B1-D26F-F560BB88C3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4188F0E-9F7B-77C7-5C3F-1ED832015B3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917CE48-48F9-EE9C-F80F-1331D3C0D0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1B7FFF9-1C0F-15FE-0BF0-1DCB1CD01AD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76E0534-E76F-A3C4-9E5A-49A5A8109DF2}"/>
              </a:ext>
            </a:extLst>
          </p:cNvPr>
          <p:cNvSpPr>
            <a:spLocks noGrp="1"/>
          </p:cNvSpPr>
          <p:nvPr>
            <p:ph type="dt" sz="half" idx="10"/>
          </p:nvPr>
        </p:nvSpPr>
        <p:spPr/>
        <p:txBody>
          <a:bodyPr/>
          <a:lstStyle/>
          <a:p>
            <a:fld id="{4329A318-45C0-3F4C-B888-47DBF59FBFCE}" type="datetimeFigureOut">
              <a:rPr lang="en-US" smtClean="0"/>
              <a:t>2/28/25</a:t>
            </a:fld>
            <a:endParaRPr lang="en-US"/>
          </a:p>
        </p:txBody>
      </p:sp>
      <p:sp>
        <p:nvSpPr>
          <p:cNvPr id="8" name="Footer Placeholder 7">
            <a:extLst>
              <a:ext uri="{FF2B5EF4-FFF2-40B4-BE49-F238E27FC236}">
                <a16:creationId xmlns:a16="http://schemas.microsoft.com/office/drawing/2014/main" id="{14074460-64B8-7A77-93C3-980CFBB0AE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04B7A2-49EA-4E40-EBB2-4D6795C88D13}"/>
              </a:ext>
            </a:extLst>
          </p:cNvPr>
          <p:cNvSpPr>
            <a:spLocks noGrp="1"/>
          </p:cNvSpPr>
          <p:nvPr>
            <p:ph type="sldNum" sz="quarter" idx="12"/>
          </p:nvPr>
        </p:nvSpPr>
        <p:spPr/>
        <p:txBody>
          <a:bodyPr/>
          <a:lstStyle/>
          <a:p>
            <a:fld id="{00F84F07-6077-9844-839E-918FEB146499}" type="slidenum">
              <a:rPr lang="en-US" smtClean="0"/>
              <a:t>‹#›</a:t>
            </a:fld>
            <a:endParaRPr lang="en-US"/>
          </a:p>
        </p:txBody>
      </p:sp>
    </p:spTree>
    <p:extLst>
      <p:ext uri="{BB962C8B-B14F-4D97-AF65-F5344CB8AC3E}">
        <p14:creationId xmlns:p14="http://schemas.microsoft.com/office/powerpoint/2010/main" val="4097244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328EA-5A41-C310-7753-C6203DB9C80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87C6CA9-1838-79EC-BAAA-9C68870AB3C3}"/>
              </a:ext>
            </a:extLst>
          </p:cNvPr>
          <p:cNvSpPr>
            <a:spLocks noGrp="1"/>
          </p:cNvSpPr>
          <p:nvPr>
            <p:ph type="dt" sz="half" idx="10"/>
          </p:nvPr>
        </p:nvSpPr>
        <p:spPr/>
        <p:txBody>
          <a:bodyPr/>
          <a:lstStyle/>
          <a:p>
            <a:fld id="{4329A318-45C0-3F4C-B888-47DBF59FBFCE}" type="datetimeFigureOut">
              <a:rPr lang="en-US" smtClean="0"/>
              <a:t>2/28/25</a:t>
            </a:fld>
            <a:endParaRPr lang="en-US"/>
          </a:p>
        </p:txBody>
      </p:sp>
      <p:sp>
        <p:nvSpPr>
          <p:cNvPr id="4" name="Footer Placeholder 3">
            <a:extLst>
              <a:ext uri="{FF2B5EF4-FFF2-40B4-BE49-F238E27FC236}">
                <a16:creationId xmlns:a16="http://schemas.microsoft.com/office/drawing/2014/main" id="{807C8854-375E-6081-62B6-0FE15C05EF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1EAE75-1E1F-C47C-8FED-A4F484752E6A}"/>
              </a:ext>
            </a:extLst>
          </p:cNvPr>
          <p:cNvSpPr>
            <a:spLocks noGrp="1"/>
          </p:cNvSpPr>
          <p:nvPr>
            <p:ph type="sldNum" sz="quarter" idx="12"/>
          </p:nvPr>
        </p:nvSpPr>
        <p:spPr/>
        <p:txBody>
          <a:bodyPr/>
          <a:lstStyle/>
          <a:p>
            <a:fld id="{00F84F07-6077-9844-839E-918FEB146499}" type="slidenum">
              <a:rPr lang="en-US" smtClean="0"/>
              <a:t>‹#›</a:t>
            </a:fld>
            <a:endParaRPr lang="en-US"/>
          </a:p>
        </p:txBody>
      </p:sp>
    </p:spTree>
    <p:extLst>
      <p:ext uri="{BB962C8B-B14F-4D97-AF65-F5344CB8AC3E}">
        <p14:creationId xmlns:p14="http://schemas.microsoft.com/office/powerpoint/2010/main" val="2883232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E0B3F2-2735-33E3-98F3-5FD021D0DCEF}"/>
              </a:ext>
            </a:extLst>
          </p:cNvPr>
          <p:cNvSpPr>
            <a:spLocks noGrp="1"/>
          </p:cNvSpPr>
          <p:nvPr>
            <p:ph type="dt" sz="half" idx="10"/>
          </p:nvPr>
        </p:nvSpPr>
        <p:spPr/>
        <p:txBody>
          <a:bodyPr/>
          <a:lstStyle/>
          <a:p>
            <a:fld id="{4329A318-45C0-3F4C-B888-47DBF59FBFCE}" type="datetimeFigureOut">
              <a:rPr lang="en-US" smtClean="0"/>
              <a:t>2/28/25</a:t>
            </a:fld>
            <a:endParaRPr lang="en-US"/>
          </a:p>
        </p:txBody>
      </p:sp>
      <p:sp>
        <p:nvSpPr>
          <p:cNvPr id="3" name="Footer Placeholder 2">
            <a:extLst>
              <a:ext uri="{FF2B5EF4-FFF2-40B4-BE49-F238E27FC236}">
                <a16:creationId xmlns:a16="http://schemas.microsoft.com/office/drawing/2014/main" id="{905228DF-0DB1-45DB-FC4C-67A9DF911A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86AC86-95B4-C82D-8380-709C9E818A37}"/>
              </a:ext>
            </a:extLst>
          </p:cNvPr>
          <p:cNvSpPr>
            <a:spLocks noGrp="1"/>
          </p:cNvSpPr>
          <p:nvPr>
            <p:ph type="sldNum" sz="quarter" idx="12"/>
          </p:nvPr>
        </p:nvSpPr>
        <p:spPr/>
        <p:txBody>
          <a:bodyPr/>
          <a:lstStyle/>
          <a:p>
            <a:fld id="{00F84F07-6077-9844-839E-918FEB146499}" type="slidenum">
              <a:rPr lang="en-US" smtClean="0"/>
              <a:t>‹#›</a:t>
            </a:fld>
            <a:endParaRPr lang="en-US"/>
          </a:p>
        </p:txBody>
      </p:sp>
    </p:spTree>
    <p:extLst>
      <p:ext uri="{BB962C8B-B14F-4D97-AF65-F5344CB8AC3E}">
        <p14:creationId xmlns:p14="http://schemas.microsoft.com/office/powerpoint/2010/main" val="1237816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1375F-38C9-87C9-06F6-1D7A79D6869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E97C50-4768-7D0B-3C43-F4130CEDB4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7823CC2-0F2F-A7B8-2613-E28E6E94C5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45A03B0-A117-8513-E9B3-70ADFCA42EA9}"/>
              </a:ext>
            </a:extLst>
          </p:cNvPr>
          <p:cNvSpPr>
            <a:spLocks noGrp="1"/>
          </p:cNvSpPr>
          <p:nvPr>
            <p:ph type="dt" sz="half" idx="10"/>
          </p:nvPr>
        </p:nvSpPr>
        <p:spPr/>
        <p:txBody>
          <a:bodyPr/>
          <a:lstStyle/>
          <a:p>
            <a:fld id="{4329A318-45C0-3F4C-B888-47DBF59FBFCE}" type="datetimeFigureOut">
              <a:rPr lang="en-US" smtClean="0"/>
              <a:t>2/28/25</a:t>
            </a:fld>
            <a:endParaRPr lang="en-US"/>
          </a:p>
        </p:txBody>
      </p:sp>
      <p:sp>
        <p:nvSpPr>
          <p:cNvPr id="6" name="Footer Placeholder 5">
            <a:extLst>
              <a:ext uri="{FF2B5EF4-FFF2-40B4-BE49-F238E27FC236}">
                <a16:creationId xmlns:a16="http://schemas.microsoft.com/office/drawing/2014/main" id="{8A127008-EC56-243A-F225-CC078D7B4B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A9A228-603A-5D2E-D684-F3BC1771CBF9}"/>
              </a:ext>
            </a:extLst>
          </p:cNvPr>
          <p:cNvSpPr>
            <a:spLocks noGrp="1"/>
          </p:cNvSpPr>
          <p:nvPr>
            <p:ph type="sldNum" sz="quarter" idx="12"/>
          </p:nvPr>
        </p:nvSpPr>
        <p:spPr/>
        <p:txBody>
          <a:bodyPr/>
          <a:lstStyle/>
          <a:p>
            <a:fld id="{00F84F07-6077-9844-839E-918FEB146499}" type="slidenum">
              <a:rPr lang="en-US" smtClean="0"/>
              <a:t>‹#›</a:t>
            </a:fld>
            <a:endParaRPr lang="en-US"/>
          </a:p>
        </p:txBody>
      </p:sp>
    </p:spTree>
    <p:extLst>
      <p:ext uri="{BB962C8B-B14F-4D97-AF65-F5344CB8AC3E}">
        <p14:creationId xmlns:p14="http://schemas.microsoft.com/office/powerpoint/2010/main" val="1203463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3285F-325A-863F-C76E-5D759E27A3D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A3F4614-0053-4F15-2271-DC0505AE1F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601A7E5-38A7-A928-D01B-071EBE16AA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5A62509-CE45-6CAF-43D8-1BFAD8DA73C2}"/>
              </a:ext>
            </a:extLst>
          </p:cNvPr>
          <p:cNvSpPr>
            <a:spLocks noGrp="1"/>
          </p:cNvSpPr>
          <p:nvPr>
            <p:ph type="dt" sz="half" idx="10"/>
          </p:nvPr>
        </p:nvSpPr>
        <p:spPr/>
        <p:txBody>
          <a:bodyPr/>
          <a:lstStyle/>
          <a:p>
            <a:fld id="{4329A318-45C0-3F4C-B888-47DBF59FBFCE}" type="datetimeFigureOut">
              <a:rPr lang="en-US" smtClean="0"/>
              <a:t>2/28/25</a:t>
            </a:fld>
            <a:endParaRPr lang="en-US"/>
          </a:p>
        </p:txBody>
      </p:sp>
      <p:sp>
        <p:nvSpPr>
          <p:cNvPr id="6" name="Footer Placeholder 5">
            <a:extLst>
              <a:ext uri="{FF2B5EF4-FFF2-40B4-BE49-F238E27FC236}">
                <a16:creationId xmlns:a16="http://schemas.microsoft.com/office/drawing/2014/main" id="{40A9EC08-18DC-D9B5-61FD-1E0534375D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90B6AE-00A6-AA8D-6849-69BE2FA8B630}"/>
              </a:ext>
            </a:extLst>
          </p:cNvPr>
          <p:cNvSpPr>
            <a:spLocks noGrp="1"/>
          </p:cNvSpPr>
          <p:nvPr>
            <p:ph type="sldNum" sz="quarter" idx="12"/>
          </p:nvPr>
        </p:nvSpPr>
        <p:spPr/>
        <p:txBody>
          <a:bodyPr/>
          <a:lstStyle/>
          <a:p>
            <a:fld id="{00F84F07-6077-9844-839E-918FEB146499}" type="slidenum">
              <a:rPr lang="en-US" smtClean="0"/>
              <a:t>‹#›</a:t>
            </a:fld>
            <a:endParaRPr lang="en-US"/>
          </a:p>
        </p:txBody>
      </p:sp>
    </p:spTree>
    <p:extLst>
      <p:ext uri="{BB962C8B-B14F-4D97-AF65-F5344CB8AC3E}">
        <p14:creationId xmlns:p14="http://schemas.microsoft.com/office/powerpoint/2010/main" val="2644618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41819-7FF7-4669-B263-38AD23B7EEA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7158090-C668-9D69-FB89-93521B5C046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2E5EA45-DF3F-FE64-B284-E247F1622AB2}"/>
              </a:ext>
            </a:extLst>
          </p:cNvPr>
          <p:cNvSpPr>
            <a:spLocks noGrp="1"/>
          </p:cNvSpPr>
          <p:nvPr>
            <p:ph type="dt" sz="half" idx="10"/>
          </p:nvPr>
        </p:nvSpPr>
        <p:spPr/>
        <p:txBody>
          <a:bodyPr/>
          <a:lstStyle/>
          <a:p>
            <a:fld id="{4329A318-45C0-3F4C-B888-47DBF59FBFCE}" type="datetimeFigureOut">
              <a:rPr lang="en-US" smtClean="0"/>
              <a:t>2/28/25</a:t>
            </a:fld>
            <a:endParaRPr lang="en-US"/>
          </a:p>
        </p:txBody>
      </p:sp>
      <p:sp>
        <p:nvSpPr>
          <p:cNvPr id="5" name="Footer Placeholder 4">
            <a:extLst>
              <a:ext uri="{FF2B5EF4-FFF2-40B4-BE49-F238E27FC236}">
                <a16:creationId xmlns:a16="http://schemas.microsoft.com/office/drawing/2014/main" id="{0E3B31FB-CA6B-0AF6-6027-42AEE41D04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6A1FAF-3A6A-53B6-A542-74BD2753775D}"/>
              </a:ext>
            </a:extLst>
          </p:cNvPr>
          <p:cNvSpPr>
            <a:spLocks noGrp="1"/>
          </p:cNvSpPr>
          <p:nvPr>
            <p:ph type="sldNum" sz="quarter" idx="12"/>
          </p:nvPr>
        </p:nvSpPr>
        <p:spPr/>
        <p:txBody>
          <a:bodyPr/>
          <a:lstStyle/>
          <a:p>
            <a:fld id="{00F84F07-6077-9844-839E-918FEB146499}" type="slidenum">
              <a:rPr lang="en-US" smtClean="0"/>
              <a:t>‹#›</a:t>
            </a:fld>
            <a:endParaRPr lang="en-US"/>
          </a:p>
        </p:txBody>
      </p:sp>
    </p:spTree>
    <p:extLst>
      <p:ext uri="{BB962C8B-B14F-4D97-AF65-F5344CB8AC3E}">
        <p14:creationId xmlns:p14="http://schemas.microsoft.com/office/powerpoint/2010/main" val="1697832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E65DF-9DC2-BF2E-2697-86D0FF8861E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5961D27-CDFC-7E36-5C77-9033CE86864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A4E43B5-2A1B-855F-1C48-1CE23D3E0288}"/>
              </a:ext>
            </a:extLst>
          </p:cNvPr>
          <p:cNvSpPr>
            <a:spLocks noGrp="1"/>
          </p:cNvSpPr>
          <p:nvPr>
            <p:ph type="dt" sz="half" idx="10"/>
          </p:nvPr>
        </p:nvSpPr>
        <p:spPr/>
        <p:txBody>
          <a:bodyPr/>
          <a:lstStyle/>
          <a:p>
            <a:fld id="{4329A318-45C0-3F4C-B888-47DBF59FBFCE}" type="datetimeFigureOut">
              <a:rPr lang="en-US" smtClean="0"/>
              <a:t>2/28/25</a:t>
            </a:fld>
            <a:endParaRPr lang="en-US"/>
          </a:p>
        </p:txBody>
      </p:sp>
      <p:sp>
        <p:nvSpPr>
          <p:cNvPr id="5" name="Footer Placeholder 4">
            <a:extLst>
              <a:ext uri="{FF2B5EF4-FFF2-40B4-BE49-F238E27FC236}">
                <a16:creationId xmlns:a16="http://schemas.microsoft.com/office/drawing/2014/main" id="{671B910D-5331-BCF0-8645-B587C3B66B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E3511C-423E-434F-370C-D99B99C62CA6}"/>
              </a:ext>
            </a:extLst>
          </p:cNvPr>
          <p:cNvSpPr>
            <a:spLocks noGrp="1"/>
          </p:cNvSpPr>
          <p:nvPr>
            <p:ph type="sldNum" sz="quarter" idx="12"/>
          </p:nvPr>
        </p:nvSpPr>
        <p:spPr/>
        <p:txBody>
          <a:bodyPr/>
          <a:lstStyle/>
          <a:p>
            <a:fld id="{00F84F07-6077-9844-839E-918FEB146499}" type="slidenum">
              <a:rPr lang="en-US" smtClean="0"/>
              <a:t>‹#›</a:t>
            </a:fld>
            <a:endParaRPr lang="en-US"/>
          </a:p>
        </p:txBody>
      </p:sp>
    </p:spTree>
    <p:extLst>
      <p:ext uri="{BB962C8B-B14F-4D97-AF65-F5344CB8AC3E}">
        <p14:creationId xmlns:p14="http://schemas.microsoft.com/office/powerpoint/2010/main" val="4138299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0C0DD4-E2E7-1D1C-1A1B-2E1B8B9CAD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3789470-8AE7-5267-BCDF-D761ED79F2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F36A841-2027-FE76-756B-A81B64CF19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29A318-45C0-3F4C-B888-47DBF59FBFCE}" type="datetimeFigureOut">
              <a:rPr lang="en-US" smtClean="0"/>
              <a:t>2/28/25</a:t>
            </a:fld>
            <a:endParaRPr lang="en-US"/>
          </a:p>
        </p:txBody>
      </p:sp>
      <p:sp>
        <p:nvSpPr>
          <p:cNvPr id="5" name="Footer Placeholder 4">
            <a:extLst>
              <a:ext uri="{FF2B5EF4-FFF2-40B4-BE49-F238E27FC236}">
                <a16:creationId xmlns:a16="http://schemas.microsoft.com/office/drawing/2014/main" id="{FFF8F49F-400F-4FCE-4C0A-595FFBDF1D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B7A054E-68DA-E3EF-9796-8FF81083CF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F84F07-6077-9844-839E-918FEB146499}" type="slidenum">
              <a:rPr lang="en-US" smtClean="0"/>
              <a:t>‹#›</a:t>
            </a:fld>
            <a:endParaRPr lang="en-US"/>
          </a:p>
        </p:txBody>
      </p:sp>
    </p:spTree>
    <p:extLst>
      <p:ext uri="{BB962C8B-B14F-4D97-AF65-F5344CB8AC3E}">
        <p14:creationId xmlns:p14="http://schemas.microsoft.com/office/powerpoint/2010/main" val="3938811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F1A88-CC82-D143-9815-9071388F8030}"/>
              </a:ext>
            </a:extLst>
          </p:cNvPr>
          <p:cNvSpPr>
            <a:spLocks noGrp="1"/>
          </p:cNvSpPr>
          <p:nvPr>
            <p:ph type="ctrTitle"/>
          </p:nvPr>
        </p:nvSpPr>
        <p:spPr/>
        <p:txBody>
          <a:bodyPr/>
          <a:lstStyle/>
          <a:p>
            <a:r>
              <a:rPr lang="en-US" dirty="0"/>
              <a:t>Lead Scoring Model For </a:t>
            </a:r>
            <a:r>
              <a:rPr lang="en-US" dirty="0" err="1"/>
              <a:t>X_education</a:t>
            </a:r>
            <a:endParaRPr lang="en-US" dirty="0"/>
          </a:p>
        </p:txBody>
      </p:sp>
      <p:sp>
        <p:nvSpPr>
          <p:cNvPr id="3" name="Subtitle 2">
            <a:extLst>
              <a:ext uri="{FF2B5EF4-FFF2-40B4-BE49-F238E27FC236}">
                <a16:creationId xmlns:a16="http://schemas.microsoft.com/office/drawing/2014/main" id="{324862E4-CD6C-3608-5A84-AFDC259DB9C5}"/>
              </a:ext>
            </a:extLst>
          </p:cNvPr>
          <p:cNvSpPr>
            <a:spLocks noGrp="1"/>
          </p:cNvSpPr>
          <p:nvPr>
            <p:ph type="subTitle" idx="1"/>
          </p:nvPr>
        </p:nvSpPr>
        <p:spPr/>
        <p:txBody>
          <a:bodyPr/>
          <a:lstStyle/>
          <a:p>
            <a:r>
              <a:rPr lang="en-US" dirty="0"/>
              <a:t>By Abhinav Mehta </a:t>
            </a:r>
          </a:p>
        </p:txBody>
      </p:sp>
    </p:spTree>
    <p:extLst>
      <p:ext uri="{BB962C8B-B14F-4D97-AF65-F5344CB8AC3E}">
        <p14:creationId xmlns:p14="http://schemas.microsoft.com/office/powerpoint/2010/main" val="3277177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CA762-7464-9A98-83B6-BE38253660C5}"/>
              </a:ext>
            </a:extLst>
          </p:cNvPr>
          <p:cNvSpPr>
            <a:spLocks noGrp="1"/>
          </p:cNvSpPr>
          <p:nvPr>
            <p:ph type="title"/>
          </p:nvPr>
        </p:nvSpPr>
        <p:spPr/>
        <p:txBody>
          <a:bodyPr/>
          <a:lstStyle/>
          <a:p>
            <a:pPr algn="ctr"/>
            <a:r>
              <a:rPr lang="en-US" dirty="0"/>
              <a:t>Contents</a:t>
            </a:r>
          </a:p>
        </p:txBody>
      </p:sp>
      <p:sp>
        <p:nvSpPr>
          <p:cNvPr id="3" name="Content Placeholder 2">
            <a:extLst>
              <a:ext uri="{FF2B5EF4-FFF2-40B4-BE49-F238E27FC236}">
                <a16:creationId xmlns:a16="http://schemas.microsoft.com/office/drawing/2014/main" id="{EDA11A4C-D52A-5904-1998-D232F9440020}"/>
              </a:ext>
            </a:extLst>
          </p:cNvPr>
          <p:cNvSpPr>
            <a:spLocks noGrp="1"/>
          </p:cNvSpPr>
          <p:nvPr>
            <p:ph idx="1"/>
          </p:nvPr>
        </p:nvSpPr>
        <p:spPr/>
        <p:txBody>
          <a:bodyPr>
            <a:normAutofit fontScale="92500" lnSpcReduction="20000"/>
          </a:bodyPr>
          <a:lstStyle/>
          <a:p>
            <a:r>
              <a:rPr lang="en-US" dirty="0"/>
              <a:t>Problem Statement</a:t>
            </a:r>
          </a:p>
          <a:p>
            <a:r>
              <a:rPr lang="en-US" dirty="0"/>
              <a:t>Data Overview</a:t>
            </a:r>
          </a:p>
          <a:p>
            <a:r>
              <a:rPr lang="en-US" dirty="0"/>
              <a:t>Data Preparation </a:t>
            </a:r>
          </a:p>
          <a:p>
            <a:r>
              <a:rPr lang="en-US" dirty="0"/>
              <a:t>Feature Scaling and Correlation Analysis </a:t>
            </a:r>
          </a:p>
          <a:p>
            <a:r>
              <a:rPr lang="en-US" dirty="0"/>
              <a:t>Logistic Regression Model Building and Early Findings </a:t>
            </a:r>
          </a:p>
          <a:p>
            <a:r>
              <a:rPr lang="en-US" dirty="0"/>
              <a:t>Strategic Recommendations for </a:t>
            </a:r>
            <a:r>
              <a:rPr lang="en-US" dirty="0" err="1"/>
              <a:t>X_education</a:t>
            </a:r>
            <a:r>
              <a:rPr lang="en-US" dirty="0"/>
              <a:t> </a:t>
            </a:r>
          </a:p>
          <a:p>
            <a:r>
              <a:rPr lang="en-US" dirty="0"/>
              <a:t>Model predictions and valuation on train dataset </a:t>
            </a:r>
          </a:p>
          <a:p>
            <a:r>
              <a:rPr lang="en-US" dirty="0"/>
              <a:t>Model predictions and evaluation on test dataset</a:t>
            </a:r>
          </a:p>
          <a:p>
            <a:r>
              <a:rPr lang="en-US" dirty="0"/>
              <a:t>Overall business implications</a:t>
            </a:r>
          </a:p>
          <a:p>
            <a:r>
              <a:rPr lang="en-US" dirty="0"/>
              <a:t>Conclusion </a:t>
            </a:r>
          </a:p>
        </p:txBody>
      </p:sp>
    </p:spTree>
    <p:extLst>
      <p:ext uri="{BB962C8B-B14F-4D97-AF65-F5344CB8AC3E}">
        <p14:creationId xmlns:p14="http://schemas.microsoft.com/office/powerpoint/2010/main" val="3705505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76376-1821-298F-E8D3-0190EB549AD1}"/>
              </a:ext>
            </a:extLst>
          </p:cNvPr>
          <p:cNvSpPr>
            <a:spLocks noGrp="1"/>
          </p:cNvSpPr>
          <p:nvPr>
            <p:ph type="title"/>
          </p:nvPr>
        </p:nvSpPr>
        <p:spPr>
          <a:xfrm>
            <a:off x="838200" y="365125"/>
            <a:ext cx="9961880" cy="813435"/>
          </a:xfrm>
        </p:spPr>
        <p:txBody>
          <a:bodyPr/>
          <a:lstStyle/>
          <a:p>
            <a:pPr algn="ctr"/>
            <a:r>
              <a:rPr lang="en-US" dirty="0"/>
              <a:t>Problem Statement</a:t>
            </a:r>
          </a:p>
        </p:txBody>
      </p:sp>
      <p:sp>
        <p:nvSpPr>
          <p:cNvPr id="3" name="Content Placeholder 2">
            <a:extLst>
              <a:ext uri="{FF2B5EF4-FFF2-40B4-BE49-F238E27FC236}">
                <a16:creationId xmlns:a16="http://schemas.microsoft.com/office/drawing/2014/main" id="{8EB19A6F-CC22-DACE-15B6-5E9CBA4C9180}"/>
              </a:ext>
            </a:extLst>
          </p:cNvPr>
          <p:cNvSpPr>
            <a:spLocks noGrp="1"/>
          </p:cNvSpPr>
          <p:nvPr>
            <p:ph idx="1"/>
          </p:nvPr>
        </p:nvSpPr>
        <p:spPr>
          <a:xfrm>
            <a:off x="640080" y="1178560"/>
            <a:ext cx="10713720" cy="4998403"/>
          </a:xfrm>
        </p:spPr>
        <p:txBody>
          <a:bodyPr>
            <a:normAutofit/>
          </a:bodyPr>
          <a:lstStyle/>
          <a:p>
            <a:r>
              <a:rPr lang="en-US" sz="2400" dirty="0"/>
              <a:t>X education is a company that sells online courses to industry professionals wherein professionals can go their website and browse for their courses. Once they fill out the form for the course, these are classified as leads and employees start making calls, sending emails etc. Some of these leads get converted into successful sales whereas some do not. Therefore lead conversion rate is only 30% for X education. </a:t>
            </a:r>
          </a:p>
          <a:p>
            <a:r>
              <a:rPr lang="en-US" sz="2400" dirty="0"/>
              <a:t>Therefore, the objective is to build a model to assign lead score between 0 to 100 to each leads, identifying as hot leads with higher conversion chances. </a:t>
            </a:r>
          </a:p>
          <a:p>
            <a:r>
              <a:rPr lang="en-US" sz="2400" dirty="0"/>
              <a:t>Thus, the goal is to ultimately increase the conversion rate to 80%. </a:t>
            </a:r>
          </a:p>
          <a:p>
            <a:r>
              <a:rPr lang="en-US" sz="2400" dirty="0"/>
              <a:t>To meet the objective and the goal, the key requirements are to handle missing data and multicollinearity along with business interpretability and statistical significance of the model. </a:t>
            </a:r>
          </a:p>
        </p:txBody>
      </p:sp>
    </p:spTree>
    <p:extLst>
      <p:ext uri="{BB962C8B-B14F-4D97-AF65-F5344CB8AC3E}">
        <p14:creationId xmlns:p14="http://schemas.microsoft.com/office/powerpoint/2010/main" val="16424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ED7F6-763D-AB2A-2985-7FA1D59BFC4C}"/>
              </a:ext>
            </a:extLst>
          </p:cNvPr>
          <p:cNvSpPr>
            <a:spLocks noGrp="1"/>
          </p:cNvSpPr>
          <p:nvPr>
            <p:ph type="title"/>
          </p:nvPr>
        </p:nvSpPr>
        <p:spPr/>
        <p:txBody>
          <a:bodyPr/>
          <a:lstStyle/>
          <a:p>
            <a:pPr algn="ctr"/>
            <a:r>
              <a:rPr lang="en-US" dirty="0"/>
              <a:t>Data Overview </a:t>
            </a:r>
          </a:p>
        </p:txBody>
      </p:sp>
      <p:sp>
        <p:nvSpPr>
          <p:cNvPr id="3" name="Content Placeholder 2">
            <a:extLst>
              <a:ext uri="{FF2B5EF4-FFF2-40B4-BE49-F238E27FC236}">
                <a16:creationId xmlns:a16="http://schemas.microsoft.com/office/drawing/2014/main" id="{36B728F7-E498-DE1A-19EC-91FDF8F1FD4A}"/>
              </a:ext>
            </a:extLst>
          </p:cNvPr>
          <p:cNvSpPr>
            <a:spLocks noGrp="1"/>
          </p:cNvSpPr>
          <p:nvPr>
            <p:ph idx="1"/>
          </p:nvPr>
        </p:nvSpPr>
        <p:spPr/>
        <p:txBody>
          <a:bodyPr>
            <a:normAutofit/>
          </a:bodyPr>
          <a:lstStyle/>
          <a:p>
            <a:r>
              <a:rPr lang="en-US" dirty="0"/>
              <a:t>The leads dataset had 9,240 rows along with 37 columns. </a:t>
            </a:r>
          </a:p>
          <a:p>
            <a:r>
              <a:rPr lang="en-US" dirty="0"/>
              <a:t>The ‘converted’ column had binary values of 0 and 1 where 0 was for not converted and 1 for converted. </a:t>
            </a:r>
          </a:p>
          <a:p>
            <a:r>
              <a:rPr lang="en-US" dirty="0"/>
              <a:t>The dataset had both categorical and numerical columns. E.g. </a:t>
            </a:r>
            <a:r>
              <a:rPr lang="en-US" dirty="0" err="1"/>
              <a:t>TotalVisits</a:t>
            </a:r>
            <a:r>
              <a:rPr lang="en-US" dirty="0"/>
              <a:t>, Time Spent on Website, Page Views Per Visit was numerical and Lead Source, Tags, Lead Quality, Last Activity was numerical. </a:t>
            </a:r>
          </a:p>
          <a:p>
            <a:r>
              <a:rPr lang="en-US" dirty="0"/>
              <a:t>Therefore, the dataset displayed that approximately 38.5% converted and rest not converted. </a:t>
            </a:r>
          </a:p>
          <a:p>
            <a:endParaRPr lang="en-US" sz="2400" dirty="0"/>
          </a:p>
          <a:p>
            <a:endParaRPr lang="en-US" sz="2400" dirty="0"/>
          </a:p>
        </p:txBody>
      </p:sp>
    </p:spTree>
    <p:extLst>
      <p:ext uri="{BB962C8B-B14F-4D97-AF65-F5344CB8AC3E}">
        <p14:creationId xmlns:p14="http://schemas.microsoft.com/office/powerpoint/2010/main" val="3437463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DF28A-F33F-7EF3-566D-D0D396C6E621}"/>
              </a:ext>
            </a:extLst>
          </p:cNvPr>
          <p:cNvSpPr>
            <a:spLocks noGrp="1"/>
          </p:cNvSpPr>
          <p:nvPr>
            <p:ph type="title"/>
          </p:nvPr>
        </p:nvSpPr>
        <p:spPr/>
        <p:txBody>
          <a:bodyPr/>
          <a:lstStyle/>
          <a:p>
            <a:pPr algn="ctr"/>
            <a:r>
              <a:rPr lang="en-US" dirty="0"/>
              <a:t>Data Preparation </a:t>
            </a:r>
          </a:p>
        </p:txBody>
      </p:sp>
      <p:sp>
        <p:nvSpPr>
          <p:cNvPr id="3" name="Content Placeholder 2">
            <a:extLst>
              <a:ext uri="{FF2B5EF4-FFF2-40B4-BE49-F238E27FC236}">
                <a16:creationId xmlns:a16="http://schemas.microsoft.com/office/drawing/2014/main" id="{7D4E5E79-D7A1-4A2B-95C0-BFB2CAD291E6}"/>
              </a:ext>
            </a:extLst>
          </p:cNvPr>
          <p:cNvSpPr>
            <a:spLocks noGrp="1"/>
          </p:cNvSpPr>
          <p:nvPr>
            <p:ph idx="1"/>
          </p:nvPr>
        </p:nvSpPr>
        <p:spPr/>
        <p:txBody>
          <a:bodyPr>
            <a:normAutofit fontScale="92500"/>
          </a:bodyPr>
          <a:lstStyle/>
          <a:p>
            <a:r>
              <a:rPr lang="en-US" dirty="0"/>
              <a:t>The </a:t>
            </a:r>
            <a:r>
              <a:rPr lang="en-US" sz="2800" dirty="0"/>
              <a:t>missing values had to be replaced with ‘Nan’ for those that included values in categorical variables with ‘Select’. </a:t>
            </a:r>
          </a:p>
          <a:p>
            <a:r>
              <a:rPr lang="en-US" dirty="0"/>
              <a:t>Rest of the values in categorical variables had to be replaced with mode and numerical variables with median. </a:t>
            </a:r>
          </a:p>
          <a:p>
            <a:r>
              <a:rPr lang="en-US" dirty="0"/>
              <a:t>Unnecessary columns were dropped. </a:t>
            </a:r>
          </a:p>
          <a:p>
            <a:r>
              <a:rPr lang="en-US" sz="2800" dirty="0"/>
              <a:t>Feature engineering was </a:t>
            </a:r>
            <a:r>
              <a:rPr lang="en-US" dirty="0"/>
              <a:t>applied</a:t>
            </a:r>
            <a:r>
              <a:rPr lang="en-US" sz="2800" dirty="0"/>
              <a:t> whe</a:t>
            </a:r>
            <a:r>
              <a:rPr lang="en-US" dirty="0"/>
              <a:t>re some binary variables (e.g. Do Not Email) where converted to 0/1. For categorical variables with multiple levels, one-hot encoding was used to convert them to dummy variables. </a:t>
            </a:r>
          </a:p>
          <a:p>
            <a:r>
              <a:rPr lang="en-US" sz="2800" dirty="0"/>
              <a:t>For outliers</a:t>
            </a:r>
            <a:r>
              <a:rPr lang="en-US" dirty="0"/>
              <a:t>, inter-quartile range method was used for continuous variables. </a:t>
            </a:r>
            <a:endParaRPr lang="en-US" sz="2800" dirty="0"/>
          </a:p>
          <a:p>
            <a:endParaRPr lang="en-US" dirty="0"/>
          </a:p>
        </p:txBody>
      </p:sp>
    </p:spTree>
    <p:extLst>
      <p:ext uri="{BB962C8B-B14F-4D97-AF65-F5344CB8AC3E}">
        <p14:creationId xmlns:p14="http://schemas.microsoft.com/office/powerpoint/2010/main" val="1628207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3E1AE-A628-7722-F375-A4E5E9231818}"/>
              </a:ext>
            </a:extLst>
          </p:cNvPr>
          <p:cNvSpPr>
            <a:spLocks noGrp="1"/>
          </p:cNvSpPr>
          <p:nvPr>
            <p:ph type="title"/>
          </p:nvPr>
        </p:nvSpPr>
        <p:spPr/>
        <p:txBody>
          <a:bodyPr/>
          <a:lstStyle/>
          <a:p>
            <a:r>
              <a:rPr lang="en-US" dirty="0"/>
              <a:t>Feature Scaling and Correlation Analysis</a:t>
            </a:r>
          </a:p>
        </p:txBody>
      </p:sp>
      <p:sp>
        <p:nvSpPr>
          <p:cNvPr id="3" name="Content Placeholder 2">
            <a:extLst>
              <a:ext uri="{FF2B5EF4-FFF2-40B4-BE49-F238E27FC236}">
                <a16:creationId xmlns:a16="http://schemas.microsoft.com/office/drawing/2014/main" id="{89850DCE-3E5A-48A9-CCF5-824829EB0024}"/>
              </a:ext>
            </a:extLst>
          </p:cNvPr>
          <p:cNvSpPr>
            <a:spLocks noGrp="1"/>
          </p:cNvSpPr>
          <p:nvPr>
            <p:ph idx="1"/>
          </p:nvPr>
        </p:nvSpPr>
        <p:spPr>
          <a:xfrm>
            <a:off x="838200" y="1341120"/>
            <a:ext cx="10515600" cy="4835843"/>
          </a:xfrm>
        </p:spPr>
        <p:txBody>
          <a:bodyPr/>
          <a:lstStyle/>
          <a:p>
            <a:r>
              <a:rPr lang="en-US" sz="2400" dirty="0"/>
              <a:t>After splitting the data into train and test datasets in the 80-20 ratio, we apply the transform to these datasets to know about the mean and standard deviation using feature scaling by normalization. This is to make each feature comparable to each other and see how they contribute to the model in the later stages. </a:t>
            </a:r>
          </a:p>
          <a:p>
            <a:r>
              <a:rPr lang="en-US" sz="2400" dirty="0"/>
              <a:t>We then looked at the correlation of all the variables to see if any variables had high correlations between each other in order to avoid multicollinearity. This was done using the correlation matrix, visual below denoting a part of the matrix where pairs of variables are listed along with their correlations. Therefore, whichever variables had high correlations and those which were unnecessary for the business were removed from the dataset. </a:t>
            </a:r>
          </a:p>
          <a:p>
            <a:endParaRPr lang="en-US" dirty="0"/>
          </a:p>
        </p:txBody>
      </p:sp>
      <p:pic>
        <p:nvPicPr>
          <p:cNvPr id="5" name="Picture 4">
            <a:extLst>
              <a:ext uri="{FF2B5EF4-FFF2-40B4-BE49-F238E27FC236}">
                <a16:creationId xmlns:a16="http://schemas.microsoft.com/office/drawing/2014/main" id="{FD87CF00-EA94-BDBE-D879-D4A128C93B4C}"/>
              </a:ext>
            </a:extLst>
          </p:cNvPr>
          <p:cNvPicPr>
            <a:picLocks noChangeAspect="1"/>
          </p:cNvPicPr>
          <p:nvPr/>
        </p:nvPicPr>
        <p:blipFill>
          <a:blip r:embed="rId2"/>
          <a:stretch>
            <a:fillRect/>
          </a:stretch>
        </p:blipFill>
        <p:spPr>
          <a:xfrm>
            <a:off x="6174740" y="4799594"/>
            <a:ext cx="4665980" cy="1937816"/>
          </a:xfrm>
          <a:prstGeom prst="rect">
            <a:avLst/>
          </a:prstGeom>
        </p:spPr>
      </p:pic>
    </p:spTree>
    <p:extLst>
      <p:ext uri="{BB962C8B-B14F-4D97-AF65-F5344CB8AC3E}">
        <p14:creationId xmlns:p14="http://schemas.microsoft.com/office/powerpoint/2010/main" val="394617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95FCC-93C1-BD93-E2A7-25654B6E624C}"/>
              </a:ext>
            </a:extLst>
          </p:cNvPr>
          <p:cNvSpPr>
            <a:spLocks noGrp="1"/>
          </p:cNvSpPr>
          <p:nvPr>
            <p:ph type="title"/>
          </p:nvPr>
        </p:nvSpPr>
        <p:spPr/>
        <p:txBody>
          <a:bodyPr/>
          <a:lstStyle/>
          <a:p>
            <a:pPr algn="ctr"/>
            <a:r>
              <a:rPr lang="en-US" dirty="0"/>
              <a:t>Logistic Regression Model Building and Early findings  </a:t>
            </a:r>
          </a:p>
        </p:txBody>
      </p:sp>
      <p:sp>
        <p:nvSpPr>
          <p:cNvPr id="3" name="Content Placeholder 2">
            <a:extLst>
              <a:ext uri="{FF2B5EF4-FFF2-40B4-BE49-F238E27FC236}">
                <a16:creationId xmlns:a16="http://schemas.microsoft.com/office/drawing/2014/main" id="{3364253B-D660-E2A3-F7B0-B1826445182D}"/>
              </a:ext>
            </a:extLst>
          </p:cNvPr>
          <p:cNvSpPr>
            <a:spLocks noGrp="1"/>
          </p:cNvSpPr>
          <p:nvPr>
            <p:ph idx="1"/>
          </p:nvPr>
        </p:nvSpPr>
        <p:spPr>
          <a:xfrm>
            <a:off x="838200" y="1825624"/>
            <a:ext cx="10515600" cy="4544695"/>
          </a:xfrm>
        </p:spPr>
        <p:txBody>
          <a:bodyPr>
            <a:normAutofit/>
          </a:bodyPr>
          <a:lstStyle/>
          <a:p>
            <a:r>
              <a:rPr lang="en-US" sz="2000" dirty="0"/>
              <a:t>Before building the model, we had to convert the columns with Boolean datatypes to 0 and 1 for the model requirements. </a:t>
            </a:r>
          </a:p>
          <a:p>
            <a:r>
              <a:rPr lang="en-US" sz="2000" dirty="0"/>
              <a:t>After building the model, the p-values of all the variables were 0 indicating all of them to be statistically significant so find the top 3 variables contributing most to lead conversion with reference to the subjective questions, we used Recursive Feature Elimination (RFE).Refer to the list of all the variables selected along with those top 3 being True and the rest being False down below. </a:t>
            </a:r>
          </a:p>
          <a:p>
            <a:r>
              <a:rPr lang="en-US" sz="2000" dirty="0"/>
              <a:t>After RFE, top 3 variables which contributing most to lead conversion were </a:t>
            </a:r>
            <a:r>
              <a:rPr lang="en-US" sz="2000" dirty="0" err="1"/>
              <a:t>Tags_Closed</a:t>
            </a:r>
            <a:r>
              <a:rPr lang="en-US" sz="2000" dirty="0"/>
              <a:t> by </a:t>
            </a:r>
            <a:r>
              <a:rPr lang="en-US" sz="2000" dirty="0" err="1"/>
              <a:t>Horizzon,Tags_Lost</a:t>
            </a:r>
            <a:r>
              <a:rPr lang="en-US" sz="2000" dirty="0"/>
              <a:t> to </a:t>
            </a:r>
            <a:r>
              <a:rPr lang="en-US" sz="2000" dirty="0" err="1"/>
              <a:t>EINS,Lead</a:t>
            </a:r>
            <a:r>
              <a:rPr lang="en-US" sz="2000" dirty="0"/>
              <a:t> </a:t>
            </a:r>
            <a:r>
              <a:rPr lang="en-US" sz="2000" dirty="0" err="1"/>
              <a:t>Quality_Worst</a:t>
            </a:r>
            <a:r>
              <a:rPr lang="en-US" sz="2000" dirty="0"/>
              <a:t> which were all categorical. </a:t>
            </a:r>
          </a:p>
          <a:p>
            <a:pPr marL="0" indent="0">
              <a:buNone/>
            </a:pPr>
            <a:endParaRPr lang="en-US" sz="2000" dirty="0"/>
          </a:p>
          <a:p>
            <a:endParaRPr lang="en-US" dirty="0"/>
          </a:p>
        </p:txBody>
      </p:sp>
      <p:pic>
        <p:nvPicPr>
          <p:cNvPr id="5" name="Picture 4">
            <a:extLst>
              <a:ext uri="{FF2B5EF4-FFF2-40B4-BE49-F238E27FC236}">
                <a16:creationId xmlns:a16="http://schemas.microsoft.com/office/drawing/2014/main" id="{DD369D48-2BE1-065B-7252-8C1715F609EB}"/>
              </a:ext>
            </a:extLst>
          </p:cNvPr>
          <p:cNvPicPr>
            <a:picLocks noChangeAspect="1"/>
          </p:cNvPicPr>
          <p:nvPr/>
        </p:nvPicPr>
        <p:blipFill>
          <a:blip r:embed="rId2"/>
          <a:stretch>
            <a:fillRect/>
          </a:stretch>
        </p:blipFill>
        <p:spPr>
          <a:xfrm>
            <a:off x="4650740" y="4683759"/>
            <a:ext cx="4147820" cy="2095815"/>
          </a:xfrm>
          <a:prstGeom prst="rect">
            <a:avLst/>
          </a:prstGeom>
        </p:spPr>
      </p:pic>
    </p:spTree>
    <p:extLst>
      <p:ext uri="{BB962C8B-B14F-4D97-AF65-F5344CB8AC3E}">
        <p14:creationId xmlns:p14="http://schemas.microsoft.com/office/powerpoint/2010/main" val="1973574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6213D-E5E3-CEC3-7F1D-8A426C7B39D5}"/>
              </a:ext>
            </a:extLst>
          </p:cNvPr>
          <p:cNvSpPr>
            <a:spLocks noGrp="1"/>
          </p:cNvSpPr>
          <p:nvPr>
            <p:ph type="title"/>
          </p:nvPr>
        </p:nvSpPr>
        <p:spPr/>
        <p:txBody>
          <a:bodyPr/>
          <a:lstStyle/>
          <a:p>
            <a:pPr algn="ctr"/>
            <a:r>
              <a:rPr lang="en-US" dirty="0"/>
              <a:t>Strategic Recommendations for </a:t>
            </a:r>
            <a:r>
              <a:rPr lang="en-US" dirty="0" err="1"/>
              <a:t>X_education</a:t>
            </a:r>
            <a:endParaRPr lang="en-US" dirty="0"/>
          </a:p>
        </p:txBody>
      </p:sp>
      <p:sp>
        <p:nvSpPr>
          <p:cNvPr id="3" name="Content Placeholder 2">
            <a:extLst>
              <a:ext uri="{FF2B5EF4-FFF2-40B4-BE49-F238E27FC236}">
                <a16:creationId xmlns:a16="http://schemas.microsoft.com/office/drawing/2014/main" id="{42EAE297-F336-A955-5E97-845317EECB42}"/>
              </a:ext>
            </a:extLst>
          </p:cNvPr>
          <p:cNvSpPr>
            <a:spLocks noGrp="1"/>
          </p:cNvSpPr>
          <p:nvPr>
            <p:ph idx="1"/>
          </p:nvPr>
        </p:nvSpPr>
        <p:spPr/>
        <p:txBody>
          <a:bodyPr>
            <a:normAutofit lnSpcReduction="10000"/>
          </a:bodyPr>
          <a:lstStyle/>
          <a:p>
            <a:r>
              <a:rPr lang="en-US" dirty="0"/>
              <a:t>Therefore, by identifying the top 3 categorical variables influencing the lead conversion rate, the business should replicate successful strategies used by the </a:t>
            </a:r>
            <a:r>
              <a:rPr lang="en-US" dirty="0" err="1"/>
              <a:t>Horizzon</a:t>
            </a:r>
            <a:r>
              <a:rPr lang="en-US" dirty="0"/>
              <a:t> team across other campaigns. Therefore, </a:t>
            </a:r>
            <a:r>
              <a:rPr lang="en-US" dirty="0" err="1"/>
              <a:t>X_education</a:t>
            </a:r>
            <a:r>
              <a:rPr lang="en-US" dirty="0"/>
              <a:t> can train other teams to adopt similar approaches. </a:t>
            </a:r>
          </a:p>
          <a:p>
            <a:r>
              <a:rPr lang="en-US" dirty="0"/>
              <a:t>Moreover, for the variable </a:t>
            </a:r>
            <a:r>
              <a:rPr lang="en-US" sz="2800" dirty="0" err="1"/>
              <a:t>Tags_Lost</a:t>
            </a:r>
            <a:r>
              <a:rPr lang="en-US" sz="2800" dirty="0"/>
              <a:t> to EINS</a:t>
            </a:r>
            <a:r>
              <a:rPr lang="en-US" dirty="0"/>
              <a:t>, they need to investigate why leads were lost to EINS and to strengthen competitive positioning such as pricing, course quality or customer service etc. Therefore, </a:t>
            </a:r>
            <a:r>
              <a:rPr lang="en-US" dirty="0" err="1"/>
              <a:t>X_education</a:t>
            </a:r>
            <a:r>
              <a:rPr lang="en-US" dirty="0"/>
              <a:t> should filter out low-quality leads over time especially for </a:t>
            </a:r>
            <a:r>
              <a:rPr lang="en-US" sz="2800" dirty="0"/>
              <a:t>Lead </a:t>
            </a:r>
            <a:r>
              <a:rPr lang="en-US" sz="2800" dirty="0" err="1"/>
              <a:t>Quality_Worst</a:t>
            </a:r>
            <a:r>
              <a:rPr lang="en-US" dirty="0"/>
              <a:t> and then nurture these low-quality leads over time. </a:t>
            </a:r>
          </a:p>
        </p:txBody>
      </p:sp>
    </p:spTree>
    <p:extLst>
      <p:ext uri="{BB962C8B-B14F-4D97-AF65-F5344CB8AC3E}">
        <p14:creationId xmlns:p14="http://schemas.microsoft.com/office/powerpoint/2010/main" val="3481771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94DD5-FD6F-62F7-29E9-3F95920BA42D}"/>
              </a:ext>
            </a:extLst>
          </p:cNvPr>
          <p:cNvSpPr>
            <a:spLocks noGrp="1"/>
          </p:cNvSpPr>
          <p:nvPr>
            <p:ph type="title"/>
          </p:nvPr>
        </p:nvSpPr>
        <p:spPr>
          <a:xfrm>
            <a:off x="838200" y="196851"/>
            <a:ext cx="10515600" cy="626109"/>
          </a:xfrm>
        </p:spPr>
        <p:txBody>
          <a:bodyPr>
            <a:normAutofit fontScale="90000"/>
          </a:bodyPr>
          <a:lstStyle/>
          <a:p>
            <a:pPr algn="ctr"/>
            <a:r>
              <a:rPr lang="en-US" dirty="0"/>
              <a:t>Model Evaluation on train dataset  </a:t>
            </a:r>
          </a:p>
        </p:txBody>
      </p:sp>
      <p:sp>
        <p:nvSpPr>
          <p:cNvPr id="3" name="Content Placeholder 2">
            <a:extLst>
              <a:ext uri="{FF2B5EF4-FFF2-40B4-BE49-F238E27FC236}">
                <a16:creationId xmlns:a16="http://schemas.microsoft.com/office/drawing/2014/main" id="{24926DCD-B1AC-39DB-89A2-1C69327DDF90}"/>
              </a:ext>
            </a:extLst>
          </p:cNvPr>
          <p:cNvSpPr>
            <a:spLocks noGrp="1"/>
          </p:cNvSpPr>
          <p:nvPr>
            <p:ph idx="1"/>
          </p:nvPr>
        </p:nvSpPr>
        <p:spPr>
          <a:xfrm>
            <a:off x="838200" y="731520"/>
            <a:ext cx="10515600" cy="5445443"/>
          </a:xfrm>
        </p:spPr>
        <p:txBody>
          <a:bodyPr>
            <a:normAutofit/>
          </a:bodyPr>
          <a:lstStyle/>
          <a:p>
            <a:r>
              <a:rPr lang="en-US" sz="2200" dirty="0"/>
              <a:t>After making predictions for the train dataset using the Logistic Regression model, confusion matrix was used wherein the accuracy score was approximately 90% accurate. </a:t>
            </a:r>
          </a:p>
          <a:p>
            <a:r>
              <a:rPr lang="en-US" sz="2200" dirty="0"/>
              <a:t>To further, check for any multicollinearity among the 3 selected features, the variables’ variance inflation factors (VIF) were checked. As all the VIFs were just around 1, there was no need to drop any variables. </a:t>
            </a:r>
          </a:p>
          <a:p>
            <a:r>
              <a:rPr lang="en-US" sz="2200" dirty="0"/>
              <a:t>Furthermore, to see if there were any misclassifications wherein some actual yes's for converted have been predicted as no's and </a:t>
            </a:r>
            <a:r>
              <a:rPr lang="en-US" sz="2200" dirty="0" err="1"/>
              <a:t>vica</a:t>
            </a:r>
            <a:r>
              <a:rPr lang="en-US" sz="2200" dirty="0"/>
              <a:t> versa, sensitivity, specificity, positive predictive value, negative predictive value etc. was calculated.</a:t>
            </a:r>
          </a:p>
          <a:p>
            <a:r>
              <a:rPr lang="en-US" sz="2200" dirty="0"/>
              <a:t>ROC curve was plotted and its findings indicated a relatively accurate test due to the area under curve being 0.9 along with curve follows the left-hand border closely, and then top border of ROC space. ROC is below:-</a:t>
            </a:r>
          </a:p>
          <a:p>
            <a:endParaRPr lang="en-US" dirty="0"/>
          </a:p>
        </p:txBody>
      </p:sp>
      <p:pic>
        <p:nvPicPr>
          <p:cNvPr id="5" name="Picture 4">
            <a:extLst>
              <a:ext uri="{FF2B5EF4-FFF2-40B4-BE49-F238E27FC236}">
                <a16:creationId xmlns:a16="http://schemas.microsoft.com/office/drawing/2014/main" id="{84016308-89EB-8F5E-5254-8899837390D5}"/>
              </a:ext>
            </a:extLst>
          </p:cNvPr>
          <p:cNvPicPr>
            <a:picLocks noChangeAspect="1"/>
          </p:cNvPicPr>
          <p:nvPr/>
        </p:nvPicPr>
        <p:blipFill>
          <a:blip r:embed="rId2"/>
          <a:stretch>
            <a:fillRect/>
          </a:stretch>
        </p:blipFill>
        <p:spPr>
          <a:xfrm>
            <a:off x="5374640" y="4368800"/>
            <a:ext cx="5384800" cy="2342832"/>
          </a:xfrm>
          <a:prstGeom prst="rect">
            <a:avLst/>
          </a:prstGeom>
        </p:spPr>
      </p:pic>
    </p:spTree>
    <p:extLst>
      <p:ext uri="{BB962C8B-B14F-4D97-AF65-F5344CB8AC3E}">
        <p14:creationId xmlns:p14="http://schemas.microsoft.com/office/powerpoint/2010/main" val="1886507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E2295-A6C0-A523-CC5C-5FAD642F2C78}"/>
              </a:ext>
            </a:extLst>
          </p:cNvPr>
          <p:cNvSpPr>
            <a:spLocks noGrp="1"/>
          </p:cNvSpPr>
          <p:nvPr>
            <p:ph type="title"/>
          </p:nvPr>
        </p:nvSpPr>
        <p:spPr/>
        <p:txBody>
          <a:bodyPr/>
          <a:lstStyle/>
          <a:p>
            <a:r>
              <a:rPr lang="en-US" dirty="0"/>
              <a:t>Model predictions and Evaluation on train dataset (Continued)</a:t>
            </a:r>
          </a:p>
        </p:txBody>
      </p:sp>
      <p:sp>
        <p:nvSpPr>
          <p:cNvPr id="3" name="Content Placeholder 2">
            <a:extLst>
              <a:ext uri="{FF2B5EF4-FFF2-40B4-BE49-F238E27FC236}">
                <a16:creationId xmlns:a16="http://schemas.microsoft.com/office/drawing/2014/main" id="{4C2A3962-98FB-37A4-3D6E-BF95B24080C3}"/>
              </a:ext>
            </a:extLst>
          </p:cNvPr>
          <p:cNvSpPr>
            <a:spLocks noGrp="1"/>
          </p:cNvSpPr>
          <p:nvPr>
            <p:ph idx="1"/>
          </p:nvPr>
        </p:nvSpPr>
        <p:spPr/>
        <p:txBody>
          <a:bodyPr/>
          <a:lstStyle/>
          <a:p>
            <a:r>
              <a:rPr lang="en-US" sz="2800" dirty="0"/>
              <a:t>The optimal cut-off probability was found to be around 0.7977 using Youden’s Index which indicates a reasonable balance between sensitivity and specificity.  </a:t>
            </a:r>
          </a:p>
          <a:p>
            <a:r>
              <a:rPr lang="en-US" sz="2800" dirty="0"/>
              <a:t>Furthermore, from the precision-recall tradeoff curve, precision and recall intersect at around 0.4-0.5 probability threshold indicating model is moderately good as this is where precision is at around 87% and recall at 89%. Precision-recall tradeoff curve below:- </a:t>
            </a:r>
          </a:p>
          <a:p>
            <a:endParaRPr lang="en-US" dirty="0"/>
          </a:p>
        </p:txBody>
      </p:sp>
      <p:pic>
        <p:nvPicPr>
          <p:cNvPr id="5" name="Picture 4">
            <a:extLst>
              <a:ext uri="{FF2B5EF4-FFF2-40B4-BE49-F238E27FC236}">
                <a16:creationId xmlns:a16="http://schemas.microsoft.com/office/drawing/2014/main" id="{356E9568-B26A-8BBD-1739-8A4A7C00D59E}"/>
              </a:ext>
            </a:extLst>
          </p:cNvPr>
          <p:cNvPicPr>
            <a:picLocks noChangeAspect="1"/>
          </p:cNvPicPr>
          <p:nvPr/>
        </p:nvPicPr>
        <p:blipFill>
          <a:blip r:embed="rId2"/>
          <a:stretch>
            <a:fillRect/>
          </a:stretch>
        </p:blipFill>
        <p:spPr>
          <a:xfrm>
            <a:off x="3883660" y="4693920"/>
            <a:ext cx="5209540" cy="2035541"/>
          </a:xfrm>
          <a:prstGeom prst="rect">
            <a:avLst/>
          </a:prstGeom>
        </p:spPr>
      </p:pic>
    </p:spTree>
    <p:extLst>
      <p:ext uri="{BB962C8B-B14F-4D97-AF65-F5344CB8AC3E}">
        <p14:creationId xmlns:p14="http://schemas.microsoft.com/office/powerpoint/2010/main" val="3019203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A407A-7402-DF8C-9833-10210B7A4D31}"/>
              </a:ext>
            </a:extLst>
          </p:cNvPr>
          <p:cNvSpPr>
            <a:spLocks noGrp="1"/>
          </p:cNvSpPr>
          <p:nvPr>
            <p:ph type="title"/>
          </p:nvPr>
        </p:nvSpPr>
        <p:spPr/>
        <p:txBody>
          <a:bodyPr/>
          <a:lstStyle/>
          <a:p>
            <a:r>
              <a:rPr lang="en-US" dirty="0"/>
              <a:t>Making predictions and evaluations on test set </a:t>
            </a:r>
          </a:p>
        </p:txBody>
      </p:sp>
      <p:sp>
        <p:nvSpPr>
          <p:cNvPr id="3" name="Content Placeholder 2">
            <a:extLst>
              <a:ext uri="{FF2B5EF4-FFF2-40B4-BE49-F238E27FC236}">
                <a16:creationId xmlns:a16="http://schemas.microsoft.com/office/drawing/2014/main" id="{DB70C17E-0A3A-3183-46BC-883D71211743}"/>
              </a:ext>
            </a:extLst>
          </p:cNvPr>
          <p:cNvSpPr>
            <a:spLocks noGrp="1"/>
          </p:cNvSpPr>
          <p:nvPr>
            <p:ph idx="1"/>
          </p:nvPr>
        </p:nvSpPr>
        <p:spPr/>
        <p:txBody>
          <a:bodyPr/>
          <a:lstStyle/>
          <a:p>
            <a:r>
              <a:rPr lang="en-US" dirty="0"/>
              <a:t>By making the predictions on the test set we have got specificity and sensitivity, precision-recall tradeoff  very similar to the one on the train set and an accuracy slightly higher of 0.5% higher. Therefore, the optimal cut-off point obtained of 0.7977 was a good cut-off point applied on the test set. Therefore, intersection between precision and recall was around 0.4 to 0.5. ROC curve (left) and </a:t>
            </a:r>
            <a:r>
              <a:rPr lang="en-US" dirty="0" err="1"/>
              <a:t>precison</a:t>
            </a:r>
            <a:r>
              <a:rPr lang="en-US" dirty="0"/>
              <a:t>-recall tradeoff curve (right) for the test dataset is below:-</a:t>
            </a:r>
          </a:p>
          <a:p>
            <a:pPr marL="0" indent="0">
              <a:buNone/>
            </a:pPr>
            <a:endParaRPr lang="en-US" dirty="0"/>
          </a:p>
        </p:txBody>
      </p:sp>
      <p:pic>
        <p:nvPicPr>
          <p:cNvPr id="5" name="Picture 4">
            <a:extLst>
              <a:ext uri="{FF2B5EF4-FFF2-40B4-BE49-F238E27FC236}">
                <a16:creationId xmlns:a16="http://schemas.microsoft.com/office/drawing/2014/main" id="{57FF85CC-493F-565B-32E4-37C4A447B8FE}"/>
              </a:ext>
            </a:extLst>
          </p:cNvPr>
          <p:cNvPicPr>
            <a:picLocks noChangeAspect="1"/>
          </p:cNvPicPr>
          <p:nvPr/>
        </p:nvPicPr>
        <p:blipFill>
          <a:blip r:embed="rId2"/>
          <a:stretch>
            <a:fillRect/>
          </a:stretch>
        </p:blipFill>
        <p:spPr>
          <a:xfrm>
            <a:off x="1420691" y="4645571"/>
            <a:ext cx="4992370" cy="2020093"/>
          </a:xfrm>
          <a:prstGeom prst="rect">
            <a:avLst/>
          </a:prstGeom>
        </p:spPr>
      </p:pic>
      <p:pic>
        <p:nvPicPr>
          <p:cNvPr id="6" name="Picture 5">
            <a:extLst>
              <a:ext uri="{FF2B5EF4-FFF2-40B4-BE49-F238E27FC236}">
                <a16:creationId xmlns:a16="http://schemas.microsoft.com/office/drawing/2014/main" id="{3B30727A-0FF5-7938-BA59-B143387524DC}"/>
              </a:ext>
            </a:extLst>
          </p:cNvPr>
          <p:cNvPicPr>
            <a:picLocks noChangeAspect="1"/>
          </p:cNvPicPr>
          <p:nvPr/>
        </p:nvPicPr>
        <p:blipFill>
          <a:blip r:embed="rId3"/>
          <a:stretch>
            <a:fillRect/>
          </a:stretch>
        </p:blipFill>
        <p:spPr>
          <a:xfrm>
            <a:off x="6755524" y="4645571"/>
            <a:ext cx="3660227" cy="1946521"/>
          </a:xfrm>
          <a:prstGeom prst="rect">
            <a:avLst/>
          </a:prstGeom>
        </p:spPr>
      </p:pic>
    </p:spTree>
    <p:extLst>
      <p:ext uri="{BB962C8B-B14F-4D97-AF65-F5344CB8AC3E}">
        <p14:creationId xmlns:p14="http://schemas.microsoft.com/office/powerpoint/2010/main" val="1980062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3C3E4-E605-F408-2401-6CE0C013B56C}"/>
              </a:ext>
            </a:extLst>
          </p:cNvPr>
          <p:cNvSpPr>
            <a:spLocks noGrp="1"/>
          </p:cNvSpPr>
          <p:nvPr>
            <p:ph type="title"/>
          </p:nvPr>
        </p:nvSpPr>
        <p:spPr/>
        <p:txBody>
          <a:bodyPr/>
          <a:lstStyle/>
          <a:p>
            <a:r>
              <a:rPr lang="en-US" dirty="0"/>
              <a:t>Overall business implications </a:t>
            </a:r>
          </a:p>
        </p:txBody>
      </p:sp>
      <p:sp>
        <p:nvSpPr>
          <p:cNvPr id="3" name="Content Placeholder 2">
            <a:extLst>
              <a:ext uri="{FF2B5EF4-FFF2-40B4-BE49-F238E27FC236}">
                <a16:creationId xmlns:a16="http://schemas.microsoft.com/office/drawing/2014/main" id="{B64F29BC-6A49-8036-FF5E-3D5E7AC01E87}"/>
              </a:ext>
            </a:extLst>
          </p:cNvPr>
          <p:cNvSpPr>
            <a:spLocks noGrp="1"/>
          </p:cNvSpPr>
          <p:nvPr>
            <p:ph idx="1"/>
          </p:nvPr>
        </p:nvSpPr>
        <p:spPr>
          <a:xfrm>
            <a:off x="838200" y="1412240"/>
            <a:ext cx="10515600" cy="4764723"/>
          </a:xfrm>
        </p:spPr>
        <p:txBody>
          <a:bodyPr>
            <a:normAutofit lnSpcReduction="10000"/>
          </a:bodyPr>
          <a:lstStyle/>
          <a:p>
            <a:r>
              <a:rPr lang="en-US" dirty="0"/>
              <a:t>Therefore, </a:t>
            </a:r>
            <a:r>
              <a:rPr lang="en-US" dirty="0" err="1"/>
              <a:t>X_education</a:t>
            </a:r>
            <a:r>
              <a:rPr lang="en-US" dirty="0"/>
              <a:t> should overall focus on leads tagged by ‘Close </a:t>
            </a:r>
            <a:r>
              <a:rPr lang="en-US" dirty="0" err="1"/>
              <a:t>Horizzon</a:t>
            </a:r>
            <a:r>
              <a:rPr lang="en-US" dirty="0"/>
              <a:t>’ and avoid wasting efforts on leads lost to EINS. Also, they should improve the quality early in the funnel by implementing the strategies. </a:t>
            </a:r>
          </a:p>
          <a:p>
            <a:r>
              <a:rPr lang="en-US" dirty="0"/>
              <a:t>Based on optimal cut-off of 0.7977, indicates the model will predict hot leads only when probability of lead is greater than 0.7977. Therefore, </a:t>
            </a:r>
            <a:r>
              <a:rPr lang="en-US" dirty="0" err="1"/>
              <a:t>X_education</a:t>
            </a:r>
            <a:r>
              <a:rPr lang="en-US" dirty="0"/>
              <a:t> should only use phone calls on these hot leads and for the rest, use automated channels such as SMS and emails. </a:t>
            </a:r>
          </a:p>
          <a:p>
            <a:r>
              <a:rPr lang="en-US" dirty="0"/>
              <a:t>The intersection of precision and recall is around 0.4-0.5 indicating a lower threshold in order for the company to capture more leads which maximizes recall but there could still be a lot of false positives.  </a:t>
            </a:r>
          </a:p>
        </p:txBody>
      </p:sp>
    </p:spTree>
    <p:extLst>
      <p:ext uri="{BB962C8B-B14F-4D97-AF65-F5344CB8AC3E}">
        <p14:creationId xmlns:p14="http://schemas.microsoft.com/office/powerpoint/2010/main" val="1005482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140CF-4BA3-2C7E-89E4-23F7E8AF454A}"/>
              </a:ext>
            </a:extLst>
          </p:cNvPr>
          <p:cNvSpPr>
            <a:spLocks noGrp="1"/>
          </p:cNvSpPr>
          <p:nvPr>
            <p:ph type="title"/>
          </p:nvPr>
        </p:nvSpPr>
        <p:spPr/>
        <p:txBody>
          <a:bodyPr/>
          <a:lstStyle/>
          <a:p>
            <a:pPr algn="ctr"/>
            <a:r>
              <a:rPr lang="en-US" dirty="0"/>
              <a:t>Conclusion </a:t>
            </a:r>
          </a:p>
        </p:txBody>
      </p:sp>
      <p:sp>
        <p:nvSpPr>
          <p:cNvPr id="3" name="Content Placeholder 2">
            <a:extLst>
              <a:ext uri="{FF2B5EF4-FFF2-40B4-BE49-F238E27FC236}">
                <a16:creationId xmlns:a16="http://schemas.microsoft.com/office/drawing/2014/main" id="{648B8789-5914-08B1-C52C-8B164DD7CFE9}"/>
              </a:ext>
            </a:extLst>
          </p:cNvPr>
          <p:cNvSpPr>
            <a:spLocks noGrp="1"/>
          </p:cNvSpPr>
          <p:nvPr>
            <p:ph idx="1"/>
          </p:nvPr>
        </p:nvSpPr>
        <p:spPr/>
        <p:txBody>
          <a:bodyPr/>
          <a:lstStyle/>
          <a:p>
            <a:r>
              <a:rPr lang="en-US" dirty="0"/>
              <a:t>Therefore, the logistic regression has successfully identified key variables influencing lead conversion and actionable strategies have been proposed to </a:t>
            </a:r>
            <a:r>
              <a:rPr lang="en-US" dirty="0" err="1"/>
              <a:t>X_education</a:t>
            </a:r>
            <a:r>
              <a:rPr lang="en-US" dirty="0"/>
              <a:t> for aggressive lead conversion and minimizing useless calls especially </a:t>
            </a:r>
            <a:r>
              <a:rPr lang="en-US"/>
              <a:t>for lower-probability leads.  </a:t>
            </a:r>
            <a:endParaRPr lang="en-US" dirty="0"/>
          </a:p>
          <a:p>
            <a:r>
              <a:rPr lang="en-US" dirty="0"/>
              <a:t>Henceforth, </a:t>
            </a:r>
            <a:r>
              <a:rPr lang="en-US" dirty="0" err="1"/>
              <a:t>X_education</a:t>
            </a:r>
            <a:r>
              <a:rPr lang="en-US" dirty="0"/>
              <a:t> can use these strategies in the real world to test them in order to test the model further to improve the accuracy of it beyond even 90%. </a:t>
            </a:r>
          </a:p>
        </p:txBody>
      </p:sp>
    </p:spTree>
    <p:extLst>
      <p:ext uri="{BB962C8B-B14F-4D97-AF65-F5344CB8AC3E}">
        <p14:creationId xmlns:p14="http://schemas.microsoft.com/office/powerpoint/2010/main" val="829568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645</TotalTime>
  <Words>1311</Words>
  <Application>Microsoft Macintosh PowerPoint</Application>
  <PresentationFormat>Widescreen</PresentationFormat>
  <Paragraphs>56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Lead Scoring Model For X_education</vt:lpstr>
      <vt:lpstr>Contents</vt:lpstr>
      <vt:lpstr>Problem Statement</vt:lpstr>
      <vt:lpstr>Data Overview </vt:lpstr>
      <vt:lpstr>Data Preparation </vt:lpstr>
      <vt:lpstr>Feature Scaling and Correlation Analysis</vt:lpstr>
      <vt:lpstr>Logistic Regression Model Building and Early findings  </vt:lpstr>
      <vt:lpstr>Strategic Recommendations for X_education</vt:lpstr>
      <vt:lpstr>Model Evaluation on train dataset  </vt:lpstr>
      <vt:lpstr>Model predictions and Evaluation on train dataset (Continued)</vt:lpstr>
      <vt:lpstr>Making predictions and evaluations on test set </vt:lpstr>
      <vt:lpstr>Overall business implications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Abhinav Mehta</dc:creator>
  <cp:lastModifiedBy>Abhinav Mehta</cp:lastModifiedBy>
  <cp:revision>142</cp:revision>
  <dcterms:created xsi:type="dcterms:W3CDTF">2025-02-22T19:45:14Z</dcterms:created>
  <dcterms:modified xsi:type="dcterms:W3CDTF">2025-02-28T15:47:20Z</dcterms:modified>
</cp:coreProperties>
</file>